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a1d303ecb94eee" /><Relationship Type="http://schemas.openxmlformats.org/officeDocument/2006/relationships/extended-properties" Target="/docProps/app.xml" Id="R7f375c9399ce4a18" /><Relationship Type="http://schemas.openxmlformats.org/officeDocument/2006/relationships/officeDocument" Target="/ppt/presentation.xml" Id="Rfee59291618a45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46b5e843e6451b"/>
  </p:sldMasterIdLst>
  <p:notesMasterIdLst>
    <p:notesMasterId xmlns:r="http://schemas.openxmlformats.org/officeDocument/2006/relationships" r:id="Rd4cdebbfe4654f4e"/>
  </p:notesMasterIdLst>
  <p:sldIdLst>
    <p:sldId xmlns:r="http://schemas.openxmlformats.org/officeDocument/2006/relationships" id="256" r:id="Re927d064cd134b7d"/>
    <p:sldId xmlns:r="http://schemas.openxmlformats.org/officeDocument/2006/relationships" id="257" r:id="R4a57291685be4750"/>
    <p:sldId xmlns:r="http://schemas.openxmlformats.org/officeDocument/2006/relationships" id="258" r:id="R4264c55f5c8248f4"/>
    <p:sldId xmlns:r="http://schemas.openxmlformats.org/officeDocument/2006/relationships" id="259" r:id="R5b0314a9c84a476d"/>
    <p:sldId xmlns:r="http://schemas.openxmlformats.org/officeDocument/2006/relationships" id="260" r:id="R04eb50a2920e4ef5"/>
    <p:sldId xmlns:r="http://schemas.openxmlformats.org/officeDocument/2006/relationships" id="261" r:id="R879319fc74de44d9"/>
    <p:sldId xmlns:r="http://schemas.openxmlformats.org/officeDocument/2006/relationships" id="262" r:id="R7a889131c4b544c0"/>
    <p:sldId xmlns:r="http://schemas.openxmlformats.org/officeDocument/2006/relationships" id="263" r:id="R294b600ae46d4b8e"/>
    <p:sldId xmlns:r="http://schemas.openxmlformats.org/officeDocument/2006/relationships" id="264" r:id="R4f1c6319abb94005"/>
    <p:sldId xmlns:r="http://schemas.openxmlformats.org/officeDocument/2006/relationships" id="265" r:id="R7db3702e446445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a9f5dcc92a41de" /><Relationship Type="http://schemas.openxmlformats.org/officeDocument/2006/relationships/slideMaster" Target="/ppt/slideMasters/slideMaster1.xml" Id="Rdf46b5e843e6451b" /><Relationship Type="http://schemas.openxmlformats.org/officeDocument/2006/relationships/notesMaster" Target="/ppt/notesMasters/notesMaster1.xml" Id="Rd4cdebbfe4654f4e" /><Relationship Type="http://schemas.openxmlformats.org/officeDocument/2006/relationships/presProps" Target="/ppt/presProps.xml" Id="R306c52ea6f3a4bbd" /><Relationship Type="http://schemas.openxmlformats.org/officeDocument/2006/relationships/tableStyles" Target="/ppt/tableStyles.xml" Id="Refccd7864d25428f" /><Relationship Type="http://schemas.openxmlformats.org/officeDocument/2006/relationships/slide" Target="/ppt/slides/slide1.xml" Id="Re927d064cd134b7d" /><Relationship Type="http://schemas.openxmlformats.org/officeDocument/2006/relationships/slide" Target="/ppt/slides/slide2.xml" Id="R4a57291685be4750" /><Relationship Type="http://schemas.openxmlformats.org/officeDocument/2006/relationships/slide" Target="/ppt/slides/slide3.xml" Id="R4264c55f5c8248f4" /><Relationship Type="http://schemas.openxmlformats.org/officeDocument/2006/relationships/slide" Target="/ppt/slides/slide4.xml" Id="R5b0314a9c84a476d" /><Relationship Type="http://schemas.openxmlformats.org/officeDocument/2006/relationships/slide" Target="/ppt/slides/slide5.xml" Id="R04eb50a2920e4ef5" /><Relationship Type="http://schemas.openxmlformats.org/officeDocument/2006/relationships/slide" Target="/ppt/slides/slide6.xml" Id="R879319fc74de44d9" /><Relationship Type="http://schemas.openxmlformats.org/officeDocument/2006/relationships/slide" Target="/ppt/slides/slide7.xml" Id="R7a889131c4b544c0" /><Relationship Type="http://schemas.openxmlformats.org/officeDocument/2006/relationships/slide" Target="/ppt/slides/slide8.xml" Id="R294b600ae46d4b8e" /><Relationship Type="http://schemas.openxmlformats.org/officeDocument/2006/relationships/slide" Target="/ppt/slides/slide9.xml" Id="R4f1c6319abb94005" /><Relationship Type="http://schemas.openxmlformats.org/officeDocument/2006/relationships/slide" Target="/ppt/slides/slide10.xml" Id="R7db3702e446445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8ae67efa864b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fd77ea4fd54630" /><Relationship Type="http://schemas.openxmlformats.org/officeDocument/2006/relationships/notesMaster" Target="/ppt/notesMasters/notesMaster1.xml" Id="R28b7e07528044e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aad307718a4133" /><Relationship Type="http://schemas.openxmlformats.org/officeDocument/2006/relationships/notesMaster" Target="/ppt/notesMasters/notesMaster1.xml" Id="R3b1964f121ba44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1fd4cbaa9e48aa" /><Relationship Type="http://schemas.openxmlformats.org/officeDocument/2006/relationships/notesMaster" Target="/ppt/notesMasters/notesMaster1.xml" Id="R914de778664a4b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28f218ce58493b" /><Relationship Type="http://schemas.openxmlformats.org/officeDocument/2006/relationships/notesMaster" Target="/ppt/notesMasters/notesMaster1.xml" Id="R4bcf56011a8d42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080bf360b74fcf" /><Relationship Type="http://schemas.openxmlformats.org/officeDocument/2006/relationships/notesMaster" Target="/ppt/notesMasters/notesMaster1.xml" Id="R5b4ac2c7ae144d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5df251a2464bea" /><Relationship Type="http://schemas.openxmlformats.org/officeDocument/2006/relationships/notesMaster" Target="/ppt/notesMasters/notesMaster1.xml" Id="R17e31979f3fa49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bf89029ff44264" /><Relationship Type="http://schemas.openxmlformats.org/officeDocument/2006/relationships/notesMaster" Target="/ppt/notesMasters/notesMaster1.xml" Id="R2448210c6eda40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e369dd1f694f1a" /><Relationship Type="http://schemas.openxmlformats.org/officeDocument/2006/relationships/notesMaster" Target="/ppt/notesMasters/notesMaster1.xml" Id="R7cd8290c9adf45c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fbfbd3340b4650" /><Relationship Type="http://schemas.openxmlformats.org/officeDocument/2006/relationships/notesMaster" Target="/ppt/notesMasters/notesMaster1.xml" Id="R04916e4151464b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2b51329ac7405a" /><Relationship Type="http://schemas.openxmlformats.org/officeDocument/2006/relationships/notesMaster" Target="/ppt/notesMasters/notesMaster1.xml" Id="R7b6363b64fec4b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Image: Windows Central, screenshot credited to Elden Ring / FromSoftware. https://www.windowscentral.com/elden-ring-messages-reveal-helpfulness-hilarity-horniness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adapted from Mario Ojeda's course activities. Image: Windows Central, screenshot credited to Elden Ring / FromSoftware. https://www.windowscentral.com/elden-ring-messages-reveal-helpfulness-hilarity-horniness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adapted from Mario Ojeda's Alvarez, Wan, and Lee activity and MA1 planning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question from Mario Ojeda's UWC Online Writing Group Activity #2.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 synthesized from Mario Ojeda's course activities and interview-theme reflection.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research interview conducted by Mario Ojeda. The displayed quotation is translated and lightly edited from Carlos Checa's Spanish response for clarity.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research interview conducted by Mario Ojeda. Image: Windows Central, screenshot credited to Elden Ring / FromSoftware. https://www.windowscentral.com/elden-ring-messages-reveal-helpfulness-hilarity-horniness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Kevin Roozen, 'Writing Is a Social and Rhetorical Activity,' Concept 1.0 in the assigned course PDF. Analysis adapted from Mario Ojeda's graded Roozen activity.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David R. Russell, 'Writing Mediates Activity,' Concept 1.5 in the assigned course PDF. Analysis adapted from Mario Ojeda's graded Russell activity.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Conclusion based on Mario Ojeda's interview-theme reflection and course activities. Image: Windows Central, screenshot credited to Elden Ring / FromSoftware. https://www.windowscentral.com/elden-ring-messages-reveal-helpfulness-hilarity-horniness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916c9e35ac4c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ba502306a94160" /><Relationship Type="http://schemas.openxmlformats.org/officeDocument/2006/relationships/slideLayout" Target="/ppt/slideLayouts/slideLayout1.xml" Id="R17e4afb93b3c43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e4afb93b3c43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2fbdfa3a734f9e" /><Relationship Type="http://schemas.openxmlformats.org/officeDocument/2006/relationships/image" Target="/ppt/media/image.jpeg" Id="Rc21a2d8abb2f4965" /><Relationship Type="http://schemas.openxmlformats.org/officeDocument/2006/relationships/notesSlide" Target="/ppt/notesSlides/notesSlide1.xml" Id="R33dfab9f064941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def7e6b56488d" /><Relationship Type="http://schemas.openxmlformats.org/officeDocument/2006/relationships/image" Target="/ppt/media/image2.jpeg" Id="Rd1d6bd719d6e4291" /><Relationship Type="http://schemas.openxmlformats.org/officeDocument/2006/relationships/notesSlide" Target="/ppt/notesSlides/notesSlide2.xml" Id="R2a5af19036124e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4f3eb6ac914a80" /><Relationship Type="http://schemas.openxmlformats.org/officeDocument/2006/relationships/notesSlide" Target="/ppt/notesSlides/notesSlide3.xml" Id="R4e6e1281d4d840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1ba0a1b2a49f8" /><Relationship Type="http://schemas.openxmlformats.org/officeDocument/2006/relationships/notesSlide" Target="/ppt/notesSlides/notesSlide4.xml" Id="Rde7e8e19910d4a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c4e3f2ab6f44d1" /><Relationship Type="http://schemas.openxmlformats.org/officeDocument/2006/relationships/notesSlide" Target="/ppt/notesSlides/notesSlide5.xml" Id="R0736fc77652f4a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dda9e418f40a8" /><Relationship Type="http://schemas.openxmlformats.org/officeDocument/2006/relationships/notesSlide" Target="/ppt/notesSlides/notesSlide6.xml" Id="Ra60d3bb2b77a47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7243a5ccef4ef7" /><Relationship Type="http://schemas.openxmlformats.org/officeDocument/2006/relationships/image" Target="/ppt/media/image3.jpeg" Id="R0471600ad1e649c0" /><Relationship Type="http://schemas.openxmlformats.org/officeDocument/2006/relationships/notesSlide" Target="/ppt/notesSlides/notesSlide7.xml" Id="R4702d26d5b7e48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fdd680d394b19" /><Relationship Type="http://schemas.openxmlformats.org/officeDocument/2006/relationships/notesSlide" Target="/ppt/notesSlides/notesSlide8.xml" Id="R2853443f1c4c4ca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1cd9bd426d49c7" /><Relationship Type="http://schemas.openxmlformats.org/officeDocument/2006/relationships/notesSlide" Target="/ppt/notesSlides/notesSlide9.xml" Id="R6d1e706e5d3c485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2c08f058a8415f" /><Relationship Type="http://schemas.openxmlformats.org/officeDocument/2006/relationships/image" Target="/ppt/media/image4.jpeg" Id="R296e4cf057a044d5" /><Relationship Type="http://schemas.openxmlformats.org/officeDocument/2006/relationships/notesSlide" Target="/ppt/notesSlides/notesSlide10.xml" Id="R4ff10726414d4a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1a2d8abb2f4965"/>
          <a:srcRect xmlns:a="http://schemas.openxmlformats.org/drawingml/2006/main" l="20313" t="0" r="203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0"/>
            <a:ext cx="7239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C125F1-9B4B-4EBB-807F-D09C2FDF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81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3FC075-3487-4D04-873C-F7D63465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571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75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855D1C-3875-4552-BC25-AA9A4F8F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000125"/>
            <a:ext cx="38576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rPr>
              <a:t>THE PLAYER</a:t>
            </a:r>
          </a:p>
          <a:p xmlns:a="http://schemas.openxmlformats.org/drawingml/2006/main">
            <a:pPr algn="l">
              <a:defRPr sz="3000" b="1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rPr>
              <a:t>MESSAGE SYSTEM</a:t>
            </a:r>
          </a:p>
          <a:p xmlns:a="http://schemas.openxmlformats.org/drawingml/2006/main">
            <a:pPr algn="l">
              <a:defRPr sz="3000" b="1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rPr>
              <a:t>IN ELDEN 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E99483-7983-4F6B-B45D-E73ABCB3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rPr>
              <a:t>Multimodal Cultural Artifact Analysis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0DF08-99DA-46F5-B1BE-04ACAC22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B8AE9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0">
                <a:solidFill>
                  <a:srgbClr val="B8AE99"/>
                </a:solidFill>
                <a:latin typeface="Bitstream Charter"/>
                <a:ea typeface="Bitstream Charter"/>
                <a:cs typeface="Bitstream Charter"/>
              </a:rPr>
              <a:t>Mario Ojeda</a:t>
            </a:r>
          </a:p>
          <a:p xmlns:a="http://schemas.openxmlformats.org/drawingml/2006/main">
            <a:pPr algn="l">
              <a:defRPr sz="1350" b="0" i="0">
                <a:solidFill>
                  <a:srgbClr val="B8AE9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0">
                <a:solidFill>
                  <a:srgbClr val="B8AE99"/>
                </a:solidFill>
                <a:latin typeface="Bitstream Charter"/>
                <a:ea typeface="Bitstream Charter"/>
                <a:cs typeface="Bitstream Charter"/>
              </a:rPr>
              <a:t>ENC 1102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7EA030-4C8A-4CCA-884B-9604D09D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102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 i="1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rPr>
              <a:t>How limited language creates shared meaning</a:t>
            </a:r>
          </a:p>
        </p:txBody>
      </p:sp>
    </p:spTree>
    <p:extLst>
      <p:ext uri="{BB962C8B-B14F-4D97-AF65-F5344CB8AC3E}">
        <p14:creationId xmlns:p14="http://schemas.microsoft.com/office/powerpoint/2010/main" val="9288202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5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041CD2-B1FC-4711-B4F6-1D34D25F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75B"/>
          </a:solidFill>
          <a:ln xmlns:a="http://schemas.openxmlformats.org/drawingml/2006/main" w="0">
            <a:noFill/>
          </a:ln>
        </p:spPr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62360AE0-D9C7-452F-8AF9-DB0552B4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rPr>
              <a:t>Artifact and community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DABBE8-8F42-450B-A989-D32C204B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B8AE9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 i="0">
                <a:solidFill>
                  <a:srgbClr val="B8AE99"/>
                </a:solidFill>
                <a:latin typeface="Bitstream Charter"/>
                <a:ea typeface="Bitstream Charter"/>
                <a:cs typeface="Bitstream Charter"/>
              </a:rPr>
              <a:t>A writing system embedded inside a shared game world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88EB82-9A68-4477-A08A-6376D450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d6bd719d6e4291"/>
          <a:srcRect xmlns:a="http://schemas.openxmlformats.org/drawingml/2006/main" l="15334" t="0" r="153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428750"/>
            <a:ext cx="5048250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47E362-9307-4230-AB07-98CF0AD6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428750"/>
            <a:ext cx="381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713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777A1A-9AF2-41AA-8029-F181B3ED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049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rPr>
              <a:t>The artifact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E38ACB-0499-44D9-9198-97C13025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rPr>
              <a:t>Players leave short messages that appear in other players’ worlds. Readers can interpret and rate them while exploring.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C78459-DE27-4F3A-B789-297A6A45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rPr>
              <a:t>The community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802403-38F5-4002-BA35-00331FB5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3855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rPr>
              <a:t>The audience consists of Elden Ring players who share warnings, advice, jokes, and misleading messages without speaking directly.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9C995D-B7F5-42A4-B797-8F4AF808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05375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rPr>
              <a:t>My connection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E117EF-184F-4E9F-8607-62288362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3400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rPr>
              <a:t>I began playing a few weeks after release. My experience with Dark Souls III also helped me recognize communication practices from the Souls community.</a:t>
            </a:r>
          </a:p>
        </p:txBody>
      </p:sp>
    </p:spTree>
    <p:extLst>
      <p:ext uri="{BB962C8B-B14F-4D97-AF65-F5344CB8AC3E}">
        <p14:creationId xmlns:p14="http://schemas.microsoft.com/office/powerpoint/2010/main" val="18174122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5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DD9C48-FBA9-412B-8439-A4C876AF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75B"/>
          </a:solidFill>
          <a:ln xmlns:a="http://schemas.openxmlformats.org/drawingml/2006/main" w="0">
            <a:noFill/>
          </a:ln>
        </p:spPr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877E4716-EF59-4627-AEBA-1628C604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rPr>
              <a:t>How the message system works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AB7849-416E-4537-9E78-6C3EA6B3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B8AE9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 i="0">
                <a:solidFill>
                  <a:srgbClr val="B8AE99"/>
                </a:solidFill>
                <a:latin typeface="Bitstream Charter"/>
                <a:ea typeface="Bitstream Charter"/>
                <a:cs typeface="Bitstream Charter"/>
              </a:rPr>
              <a:t>Meaning develops through both words and the surrounding situation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5216C5-427D-4044-9A61-569752BE0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E9005A-740A-4C2F-AC95-D73B8A18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750" b="1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750" b="1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733C63-DD49-4785-9FB2-11B01EFB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19375"/>
            <a:ext cx="2324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713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9C4C42-95CE-4CF3-98A1-FAED67B9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rPr>
              <a:t>Compose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3E1F30-07F1-47DD-9C29-21B50CCA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2324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B8AE9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 i="0">
                <a:solidFill>
                  <a:srgbClr val="B8AE99"/>
                </a:solidFill>
                <a:latin typeface="Bitstream Charter"/>
                <a:ea typeface="Bitstream Charter"/>
                <a:cs typeface="Bitstream Charter"/>
              </a:rPr>
              <a:t>Choose a template and words from a limited list.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5A5284-F47A-472B-B7EA-E2357C9A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857500"/>
            <a:ext cx="36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0" i="0">
                <a:solidFill>
                  <a:srgbClr val="8C713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0" i="0">
                <a:solidFill>
                  <a:srgbClr val="8C713B"/>
                </a:solidFill>
                <a:latin typeface="Bitstream Charter"/>
                <a:ea typeface="Bitstream Charter"/>
                <a:cs typeface="Bitstream Charter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D7DBD2-59B9-4029-AD4A-D30E51CD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685925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750" b="1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750" b="1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13DD5F-F6A0-4954-9A49-F238CA98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19375"/>
            <a:ext cx="2324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713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70329A-1616-4967-95A1-4681D6C7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rPr>
              <a:t>Place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F47397-16A3-4DD2-B0D6-406E7CF5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29000"/>
            <a:ext cx="2324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B8AE9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 i="0">
                <a:solidFill>
                  <a:srgbClr val="B8AE99"/>
                </a:solidFill>
                <a:latin typeface="Bitstream Charter"/>
                <a:ea typeface="Bitstream Charter"/>
                <a:cs typeface="Bitstream Charter"/>
              </a:rPr>
              <a:t>Leave the message at a specific location in the game world.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92DF8A-80A0-4ACD-9CFE-981DC1C0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57500"/>
            <a:ext cx="36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0" i="0">
                <a:solidFill>
                  <a:srgbClr val="8C713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0" i="0">
                <a:solidFill>
                  <a:srgbClr val="8C713B"/>
                </a:solidFill>
                <a:latin typeface="Bitstream Charter"/>
                <a:ea typeface="Bitstream Charter"/>
                <a:cs typeface="Bitstream Charter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9403C5-47C9-4D51-8302-3A28FB49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85925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750" b="1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750" b="1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933A9B-7450-4957-B420-1CA3699F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19375"/>
            <a:ext cx="2324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713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5AC630-CB3B-4002-8505-3E60557F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rPr>
              <a:t>Interpret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CC5356-D68B-4702-8A1B-BD2D2371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29000"/>
            <a:ext cx="2324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B8AE9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 i="0">
                <a:solidFill>
                  <a:srgbClr val="B8AE99"/>
                </a:solidFill>
                <a:latin typeface="Bitstream Charter"/>
                <a:ea typeface="Bitstream Charter"/>
                <a:cs typeface="Bitstream Charter"/>
              </a:rPr>
              <a:t>Other players combine the phrase with what they see nearby.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745177-6C70-436B-AD89-B9EB0EDB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57500"/>
            <a:ext cx="36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0" i="0">
                <a:solidFill>
                  <a:srgbClr val="8C713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0" i="0">
                <a:solidFill>
                  <a:srgbClr val="8C713B"/>
                </a:solidFill>
                <a:latin typeface="Bitstream Charter"/>
                <a:ea typeface="Bitstream Charter"/>
                <a:cs typeface="Bitstream Charter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790B7C-F1AC-4A5B-9677-E00B23FF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85925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750" b="1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750" b="1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82C074-6750-4452-A20E-06F41C51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19375"/>
            <a:ext cx="2324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713B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CC247B-5470-44B9-9D72-A0052C0F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57500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rPr>
              <a:t>Respond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5AF31A-CE53-40FA-9770-4F34F924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29000"/>
            <a:ext cx="2324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B8AE9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 i="0">
                <a:solidFill>
                  <a:srgbClr val="B8AE99"/>
                </a:solidFill>
                <a:latin typeface="Bitstream Charter"/>
                <a:ea typeface="Bitstream Charter"/>
                <a:cs typeface="Bitstream Charter"/>
              </a:rPr>
              <a:t>Readers rate the message or change their next action.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8FB5DF-EB82-4F29-B2C9-CFF5CB3F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38750"/>
            <a:ext cx="9334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0231D"/>
          </a:solidFill>
          <a:ln xmlns:a="http://schemas.openxmlformats.org/drawingml/2006/main" w="9525">
            <a:solidFill>
              <a:srgbClr val="8C713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7F508F-DF48-4DCE-95FF-72866BBB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391150"/>
            <a:ext cx="872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rPr>
              <a:t>The same phrase can help, warn, joke, or deceive because location and community knowledge complete its meaning.</a:t>
            </a:r>
          </a:p>
        </p:txBody>
      </p:sp>
    </p:spTree>
    <p:extLst>
      <p:ext uri="{BB962C8B-B14F-4D97-AF65-F5344CB8AC3E}">
        <p14:creationId xmlns:p14="http://schemas.microsoft.com/office/powerpoint/2010/main" val="9980179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5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A4C966-67EA-4AB9-9934-6442825D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75B"/>
          </a:solidFill>
          <a:ln xmlns:a="http://schemas.openxmlformats.org/drawingml/2006/main" w="0">
            <a:noFill/>
          </a:ln>
        </p:spPr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3DE9911D-CFF9-4FA9-BAB0-8A6DA6C9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rPr>
              <a:t>Research question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E0B647-C834-4C48-8F6B-7819E5A5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AAF948-9B7B-4F8D-BEFD-5139AD97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19250"/>
            <a:ext cx="97917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625" b="1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rPr>
              <a:t>How does the limited vocabulary in Elden Ring’s message system affect how players communicate and interpret meaning?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F05DEF-7A9D-4A1E-9DE2-E0B976DC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14750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713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929766-4768-430D-94F9-5A1497BF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95750"/>
            <a:ext cx="8001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B8AE9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 i="0">
                <a:solidFill>
                  <a:srgbClr val="B8AE99"/>
                </a:solidFill>
                <a:latin typeface="Bitstream Charter"/>
                <a:ea typeface="Bitstream Charter"/>
                <a:cs typeface="Bitstream Charter"/>
              </a:rPr>
              <a:t>This question requires other players’ perspectives because identical words can produce different meanings in different locations.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90D15D-7F03-4AB6-8DAA-B1C81FA8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292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1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rPr>
              <a:t>Primary research: two semi-structured interviews with experienced players</a:t>
            </a:r>
          </a:p>
        </p:txBody>
      </p:sp>
    </p:spTree>
    <p:extLst>
      <p:ext uri="{BB962C8B-B14F-4D97-AF65-F5344CB8AC3E}">
        <p14:creationId xmlns:p14="http://schemas.microsoft.com/office/powerpoint/2010/main" val="7604223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5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099F60-3CEE-441B-A257-9C81D6F3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75B"/>
          </a:solidFill>
          <a:ln xmlns:a="http://schemas.openxmlformats.org/drawingml/2006/main" w="0">
            <a:noFill/>
          </a:ln>
        </p:spPr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40757F20-7A2F-46E0-A46F-D990E9B9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rPr>
              <a:t>How players construct meaning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089EAC-0BEC-4EF5-91D3-65533BEE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B8AE9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 i="0">
                <a:solidFill>
                  <a:srgbClr val="B8AE99"/>
                </a:solidFill>
                <a:latin typeface="Bitstream Charter"/>
                <a:ea typeface="Bitstream Charter"/>
                <a:cs typeface="Bitstream Charter"/>
              </a:rPr>
              <a:t>Four elements work together each time a player reads a message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CD3F3-4CC9-4A0D-B948-C2428FFB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F1485B-E5BE-43E9-B1F9-95CCBB40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240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57FE59-46E9-4EEF-992E-5C5462F2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5240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rPr>
              <a:t>WORDS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13AC3B-FC79-44C7-A01C-E3D4628A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24000"/>
            <a:ext cx="695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B8AE9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i="0">
                <a:solidFill>
                  <a:srgbClr val="B8AE99"/>
                </a:solidFill>
                <a:latin typeface="Bitstream Charter"/>
                <a:ea typeface="Bitstream Charter"/>
                <a:cs typeface="Bitstream Charter"/>
              </a:rPr>
              <a:t>Preset phrases establish the basic idea.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1A9C32-6618-4428-A123-5DA93103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36220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713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B1082F-4086-4357-9420-AC74C1F8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FAB6F9-27D0-4235-970F-B02BB49C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61937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rPr>
              <a:t>LOCATION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21A1F2-C346-4E6E-9EE4-D1A7BDB8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19375"/>
            <a:ext cx="695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B8AE9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i="0">
                <a:solidFill>
                  <a:srgbClr val="B8AE99"/>
                </a:solidFill>
                <a:latin typeface="Bitstream Charter"/>
                <a:ea typeface="Bitstream Charter"/>
                <a:cs typeface="Bitstream Charter"/>
              </a:rPr>
              <a:t>A boss door, cliff, wall, or character changes the likely meaning.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498873-D320-47D3-81ED-9346D13B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457575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713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C1151B-1557-4D39-BBE3-6FEE5E8E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147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628BA8-B3D2-4D97-B6B9-3BEB7504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7147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rPr>
              <a:t>RATINGS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736AAD-C38E-4B52-9F61-D453E9DE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14750"/>
            <a:ext cx="695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B8AE9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i="0">
                <a:solidFill>
                  <a:srgbClr val="B8AE99"/>
                </a:solidFill>
                <a:latin typeface="Bitstream Charter"/>
                <a:ea typeface="Bitstream Charter"/>
                <a:cs typeface="Bitstream Charter"/>
              </a:rPr>
              <a:t>Community feedback helps readers judge whether a message seems reliable.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785744-4FD5-4E0D-8DE3-7D9566D7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5529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713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68564F-16D8-48B9-8062-3F7B3121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101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C075FC-0DF5-427D-9A61-F632E326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81012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rPr>
              <a:t>EXPERIENCE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FABFF3-386F-4E4E-BD0D-8FB379F6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0125"/>
            <a:ext cx="695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B8AE9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i="0">
                <a:solidFill>
                  <a:srgbClr val="B8AE99"/>
                </a:solidFill>
                <a:latin typeface="Bitstream Charter"/>
                <a:ea typeface="Bitstream Charter"/>
                <a:cs typeface="Bitstream Charter"/>
              </a:rPr>
              <a:t>Players learn recurring jokes and patterns over time.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E548FF-FCFA-47C5-BE6F-903F6E90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53125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1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i="1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rPr>
              <a:t>The message does not carry meaning alone. Players actively reconstruct it from the full situation.</a:t>
            </a:r>
          </a:p>
        </p:txBody>
      </p:sp>
    </p:spTree>
    <p:extLst>
      <p:ext uri="{BB962C8B-B14F-4D97-AF65-F5344CB8AC3E}">
        <p14:creationId xmlns:p14="http://schemas.microsoft.com/office/powerpoint/2010/main" val="17967444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5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C69E11-2953-4B75-B122-C487007C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75B"/>
          </a:solidFill>
          <a:ln xmlns:a="http://schemas.openxmlformats.org/drawingml/2006/main" w="0">
            <a:noFill/>
          </a:ln>
        </p:spPr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7910E646-52C8-4132-BC71-323CE2EF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rPr>
              <a:t>Interview evidence: Carlos Checa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1707C6-43D3-40A0-96BB-F3D4BAD6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B8AE9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 i="0">
                <a:solidFill>
                  <a:srgbClr val="B8AE99"/>
                </a:solidFill>
                <a:latin typeface="Bitstream Charter"/>
                <a:ea typeface="Bitstream Charter"/>
                <a:cs typeface="Bitstream Charter"/>
              </a:rPr>
              <a:t>Context changes meaning, while feedback shapes trust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2413F6-9F93-4956-B2A5-A2B4FB15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68ACBB-F1F7-4C35-8869-BB01B768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 i="1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 i="1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rPr>
              <a:t>“Even if the warning is false, it makes you more alert.”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90FF4-6256-4C79-8DF0-79043F92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76500"/>
            <a:ext cx="800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713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C40B9F-05F7-4E35-8D01-4E1683D4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99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75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970752-1D0B-406C-9B2E-33B508E8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05125"/>
            <a:ext cx="929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rPr>
              <a:t>Carlos considers whether a message seems plausible and how much risk comes from believing 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3F9C3F-DEAE-4C99-A953-9168482C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719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75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57BBFC-CFDD-440B-AF82-35C4CFE7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67125"/>
            <a:ext cx="929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rPr>
              <a:t>Messages such as “enemy ahead” or “be wary of right” prepare players for danger before they can verify the warning.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580640-4D05-419B-B51C-08084300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29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75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C45A12-1992-4638-BBDB-154DF7B5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24375"/>
            <a:ext cx="929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rPr>
              <a:t>Ratings make a message feel more trustworthy, while nearby replies such as “liar ahead” can challenge 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155AAF-2E9E-45C1-8D62-398F15AD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86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75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FA4956-74E3-44AD-8B87-CE3B1BB7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81625"/>
            <a:ext cx="929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rPr>
              <a:t>He would keep the preset system because its limits encourage creativity and reduce insults or spoilers.</a:t>
            </a:r>
          </a:p>
        </p:txBody>
      </p:sp>
    </p:spTree>
    <p:extLst>
      <p:ext uri="{BB962C8B-B14F-4D97-AF65-F5344CB8AC3E}">
        <p14:creationId xmlns:p14="http://schemas.microsoft.com/office/powerpoint/2010/main" val="15240289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5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62226A-CB49-4A3E-A7E3-37DF8E88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75B"/>
          </a:solidFill>
          <a:ln xmlns:a="http://schemas.openxmlformats.org/drawingml/2006/main" w="0">
            <a:noFill/>
          </a:ln>
        </p:spPr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A3B7FDBE-E36F-4CDE-B047-1437AE6C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rPr>
              <a:t>Interview evidence: Fabio García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FE2710-FBD8-4146-BA43-9BEDA28D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B8AE9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 i="0">
                <a:solidFill>
                  <a:srgbClr val="B8AE99"/>
                </a:solidFill>
                <a:latin typeface="Bitstream Charter"/>
                <a:ea typeface="Bitstream Charter"/>
                <a:cs typeface="Bitstream Charter"/>
              </a:rPr>
              <a:t>The game world supplies information that the short phrase cannot contain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E06128-1DD3-4C5B-BC05-8099833E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71600ad1e649c0"/>
          <a:srcRect xmlns:a="http://schemas.openxmlformats.org/drawingml/2006/main" l="16761" t="0" r="167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381125"/>
            <a:ext cx="4953000" cy="4191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A7ABC1-EE5D-466D-AE5B-D7E6347C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rPr>
              <a:t>Fabio’s perspective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8855A0-71E2-4CE2-941C-EE06709A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504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rPr>
              <a:t>A message near Ranni or immediately before a boss fight probably refers to that nearby character or encounter.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C61316-0E92-466F-8F11-EB7640B8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rPr>
              <a:t>He also uses ratings to decide whether to trust a message.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C1686A-DE8F-4C1C-9FE1-35D6FDD0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504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rPr>
              <a:t>Fabio would keep the limited system because players become more creative and because the mechanic feels essential to the Souls series.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A85879-5A4D-4CD7-93CB-724D15DB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rPr>
              <a:t>LOCATION + EXPERIENCE =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19562110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5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5CF5A6-3CAF-4CF1-BCC9-D397E6E3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75B"/>
          </a:solidFill>
          <a:ln xmlns:a="http://schemas.openxmlformats.org/drawingml/2006/main" w="0">
            <a:noFill/>
          </a:ln>
        </p:spPr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BB488088-4AB3-49AA-99E5-14C50B9F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rPr>
              <a:t>Roozen: writing is social and rhetorical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0B3C77-432A-4194-8076-B31EC658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B8AE9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 i="0">
                <a:solidFill>
                  <a:srgbClr val="B8AE99"/>
                </a:solidFill>
                <a:latin typeface="Bitstream Charter"/>
                <a:ea typeface="Bitstream Charter"/>
                <a:cs typeface="Bitstream Charter"/>
              </a:rPr>
              <a:t>Assigned concept 1.0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393D6-7C58-477D-A7E5-50720558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4CB728-415D-4035-BFFA-17580596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rPr>
              <a:t>AUDIENCE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47EB64-201D-492F-8B0C-5A2C43C6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38375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rPr>
              <a:t>Every message addresses another player who may eventually encounter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A61A82-2901-4F83-B4D3-30191C01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147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rPr>
              <a:t>PURPOSE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B26B99-A0A4-4EC8-8D14-128387E9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86250"/>
            <a:ext cx="4095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rPr>
              <a:t>Writers choose phrases to help, warn, joke, or mislead, depending on the situation.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1DBBE1-4231-43A5-9BA3-A71808F2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76375"/>
            <a:ext cx="381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713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F401CA-2EE0-476C-89B9-7D820C63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 i="1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 i="1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rPr>
              <a:t>Roozen explains that writers make meaning for “particular audiences and purposes” and always remain connected to other people.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488CD-816D-4917-A7EA-2B76A174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B8AE9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 i="0">
                <a:solidFill>
                  <a:srgbClr val="B8AE99"/>
                </a:solidFill>
                <a:latin typeface="Bitstream Charter"/>
                <a:ea typeface="Bitstream Charter"/>
                <a:cs typeface="Bitstream Charter"/>
              </a:rPr>
              <a:t>Elden Ring makes this visible. Anonymous players still anticipate what a reader knows, needs, and may do next.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65FAF3-2F3B-4E05-89DD-222351DA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197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rPr>
              <a:t>Roozen, “Writing Is a Social and Rhetorical Activity”</a:t>
            </a:r>
          </a:p>
        </p:txBody>
      </p:sp>
    </p:spTree>
    <p:extLst>
      <p:ext uri="{BB962C8B-B14F-4D97-AF65-F5344CB8AC3E}">
        <p14:creationId xmlns:p14="http://schemas.microsoft.com/office/powerpoint/2010/main" val="1158866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5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E9D04C-FFB8-4FA5-875D-2B56F099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75B"/>
          </a:solidFill>
          <a:ln xmlns:a="http://schemas.openxmlformats.org/drawingml/2006/main" w="0">
            <a:noFill/>
          </a:ln>
        </p:spPr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85928F97-77E2-4411-9941-E6511881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rPr>
              <a:t>Russell: writing mediates activity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456311-B530-45DC-B7D1-27A74B5D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B8AE9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 i="0">
                <a:solidFill>
                  <a:srgbClr val="B8AE99"/>
                </a:solidFill>
                <a:latin typeface="Bitstream Charter"/>
                <a:ea typeface="Bitstream Charter"/>
                <a:cs typeface="Bitstream Charter"/>
              </a:rPr>
              <a:t>Assigned concept 1.5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E54EF9-380C-4674-9A3F-529E16F7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47997C-B9B7-4DAD-9256-893873FF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rPr>
              <a:t>STOP 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40300-B24F-43B7-BAC3-AA27EA17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33625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rPr>
              <a:t>Written marks coordinate what drivers do at an intersection.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DF92BA-EABC-4B66-8866-9FD4A709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rPr>
              <a:t>ELDEN RING MESSAGE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CE207F-0680-4E33-99E1-069D2037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33625"/>
            <a:ext cx="3714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rPr>
              <a:t>A short message can change whether a player advances, searches, attacks, or becomes cautious.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D9F154-2700-4B3E-9162-1B9831BE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333625"/>
            <a:ext cx="123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0" i="0">
                <a:solidFill>
                  <a:srgbClr val="8C713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0" i="0">
                <a:solidFill>
                  <a:srgbClr val="8C713B"/>
                </a:solidFill>
                <a:latin typeface="Bitstream Charter"/>
                <a:ea typeface="Bitstream Charter"/>
                <a:cs typeface="Bitstream Charter"/>
              </a:rPr>
              <a:t>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350421-2D81-454D-AD81-A1222CD2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5287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713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B5D387-C37C-4CF8-96AD-D7D6507D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333875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rPr>
              <a:t>The text connects players across distance and time. A writer leaves a message now, and an unknown reader may act on it later.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69C0CA-FE36-4586-9700-793EAA51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102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rPr>
              <a:t>Russell, “Writing Mediates Activity”</a:t>
            </a:r>
          </a:p>
        </p:txBody>
      </p:sp>
    </p:spTree>
    <p:extLst>
      <p:ext uri="{BB962C8B-B14F-4D97-AF65-F5344CB8AC3E}">
        <p14:creationId xmlns:p14="http://schemas.microsoft.com/office/powerpoint/2010/main" val="12909963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5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4B1BDE-A5D1-44E2-8365-7AE698FC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75B"/>
          </a:solidFill>
          <a:ln xmlns:a="http://schemas.openxmlformats.org/drawingml/2006/main" w="0">
            <a:noFill/>
          </a:ln>
        </p:spPr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29517F6D-329E-4338-A513-6AF630E7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DE232C-045B-44E1-8F99-9AC36EB7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B8AE9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 i="0">
                <a:solidFill>
                  <a:srgbClr val="B8AE99"/>
                </a:solidFill>
                <a:latin typeface="Bitstream Charter"/>
                <a:ea typeface="Bitstream Charter"/>
                <a:cs typeface="Bitstream Charter"/>
              </a:rPr>
              <a:t>Limited language produces a richer form of shared interpretation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EE33B8-D087-434E-A5EC-D45F8BB6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rPr>
              <a:t>10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6e4cf057a044d5"/>
          <a:srcRect xmlns:a="http://schemas.openxmlformats.org/drawingml/2006/main" l="16518" t="0" r="165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476375"/>
            <a:ext cx="4762500" cy="4000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4D9084-C7E1-4708-ABB6-F947FBAF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524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 i="0">
                <a:solidFill>
                  <a:srgbClr val="C7A75B"/>
                </a:solidFill>
                <a:latin typeface="Bitstream Charter"/>
                <a:ea typeface="Bitstream Charter"/>
                <a:cs typeface="Bitstream Charter"/>
              </a:rPr>
              <a:t>What the artifact shows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3D3603-67B2-4C72-A2ED-2A27727B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09550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rPr>
              <a:t>The preset vocabulary does not prevent meaningful communication. It moves part of the meaning into location, ratings, and shared experience.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0A270E-268E-4DAF-A157-E7B4286B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619500"/>
            <a:ext cx="4953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rPr>
              <a:t>Players turn constraints into creativity. They develop recognizable warnings, jokes, and ways to challenge misleading messages.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015FCF-4583-49D4-B088-2624700A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0482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 i="0">
                <a:solidFill>
                  <a:srgbClr val="EFE7D2"/>
                </a:solidFill>
                <a:latin typeface="Bitstream Charter"/>
                <a:ea typeface="Bitstream Charter"/>
                <a:cs typeface="Bitstream Charter"/>
              </a:rPr>
              <a:t>The system demonstrates that writing can build community and shape action even when writers and readers never meet.</a:t>
            </a:r>
          </a:p>
        </p:txBody>
      </p:sp>
    </p:spTree>
    <p:extLst>
      <p:ext uri="{BB962C8B-B14F-4D97-AF65-F5344CB8AC3E}">
        <p14:creationId xmlns:p14="http://schemas.microsoft.com/office/powerpoint/2010/main" val="2665662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2026-09-20T16:52:53.7540000Z</dcterms:created>
  <dcterms:modified xsi:type="dcterms:W3CDTF">2026-09-20T16:52:53.7540000Z</dcterms:modified>
</coreProperties>
</file>